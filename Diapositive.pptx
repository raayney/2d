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Quattrocento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1D8D52-053F-446A-A483-0386CEAEA1B3}">
  <a:tblStyle styleId="{891D8D52-053F-446A-A483-0386CEAEA1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QuattrocentoSans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QuattrocentoSans-italic.fntdata"/><Relationship Id="rId23" Type="http://schemas.openxmlformats.org/officeDocument/2006/relationships/font" Target="fonts/Quattrocento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Quattrocento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b80fdbde9_0_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db80fdbde9_0_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db80fdbde9_0_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b80fdbde9_0_7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db80fdbde9_0_7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db80fdbde9_0_7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bd248b8af_1_46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dbd248b8af_1_46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dbd248b8af_1_46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bd248b8af_1_54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dbd248b8af_1_54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dbd248b8af_1_54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bd248b8af_1_57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dbd248b8af_1_57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dbd248b8af_1_57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c34e5af37_0_9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dc34e5af37_0_9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dc34e5af37_0_9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b80fdbde9_0_13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db80fdbde9_0_13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db80fdbde9_0_13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b80fdbde9_0_24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db80fdbde9_0_24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db80fdbde9_0_24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c34e5af37_0_1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dc34e5af37_0_1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dc34e5af37_0_1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c34e5af37_0_2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dc34e5af37_0_2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dc34e5af37_0_2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c34e5af37_0_5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dc34e5af37_0_5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dc34e5af37_0_5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3.gif"/><Relationship Id="rId8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vyTy2TMUt-jeZpNnE4AeGLzgTBfRnlyb/view" TargetMode="External"/><Relationship Id="rId4" Type="http://schemas.openxmlformats.org/officeDocument/2006/relationships/image" Target="../media/image15.jp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" name="Google Shape;5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721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6" y="6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/>
          <p:nvPr/>
        </p:nvSpPr>
        <p:spPr>
          <a:xfrm>
            <a:off x="357188" y="242888"/>
            <a:ext cx="400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5984400" y="13"/>
            <a:ext cx="3159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lang="f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UL1SXARE |Rayney Poon Shao Rui, Boubacar, Yasser</a:t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14" title="1deb6cf87a53fb5603711a9841b230013461ad506541bafe39000e7c.gi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66118" y="994418"/>
            <a:ext cx="1399375" cy="1455716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" name="Google Shape;63;p14"/>
          <p:cNvSpPr/>
          <p:nvPr/>
        </p:nvSpPr>
        <p:spPr>
          <a:xfrm>
            <a:off x="412713" y="3679025"/>
            <a:ext cx="8429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Quattrocento Sans"/>
              <a:buNone/>
            </a:pPr>
            <a:r>
              <a:rPr lang="fr" sz="1900">
                <a:latin typeface="Quattrocento Sans"/>
                <a:ea typeface="Quattrocento Sans"/>
                <a:cs typeface="Quattrocento Sans"/>
                <a:sym typeface="Quattrocento Sans"/>
              </a:rPr>
              <a:t>Un modèle spatial stochastique de criticité neutronique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412713" y="4454950"/>
            <a:ext cx="84297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Quattrocento Sans"/>
              <a:buNone/>
            </a:pPr>
            <a:r>
              <a:rPr lang="fr" sz="1100">
                <a:latin typeface="Quattrocento Sans"/>
                <a:ea typeface="Quattrocento Sans"/>
                <a:cs typeface="Quattrocento Sans"/>
                <a:sym typeface="Quattrocento Sans"/>
              </a:rPr>
              <a:t>1 neutron. 50x50 grille. 3 régimes possibles.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412725" y="2515225"/>
            <a:ext cx="67395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Quattrocento Sans"/>
              <a:buNone/>
            </a:pPr>
            <a:r>
              <a:rPr b="1" lang="fr" sz="4500">
                <a:latin typeface="Quattrocento Sans"/>
                <a:ea typeface="Quattrocento Sans"/>
                <a:cs typeface="Quattrocento Sans"/>
                <a:sym typeface="Quattrocento Sans"/>
              </a:rPr>
              <a:t>Simulation d’une Réaction en Chaîne Nu</a:t>
            </a:r>
            <a:r>
              <a:rPr b="1" lang="fr" sz="4500">
                <a:latin typeface="Quattrocento Sans"/>
                <a:ea typeface="Quattrocento Sans"/>
                <a:cs typeface="Quattrocento Sans"/>
                <a:sym typeface="Quattrocento Sans"/>
              </a:rPr>
              <a:t>c</a:t>
            </a:r>
            <a:r>
              <a:rPr b="1" lang="fr" sz="4500">
                <a:latin typeface="Quattrocento Sans"/>
                <a:ea typeface="Quattrocento Sans"/>
                <a:cs typeface="Quattrocento Sans"/>
                <a:sym typeface="Quattrocento Sans"/>
              </a:rPr>
              <a:t>léaire 2D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14" title="66e7e4205ed5068f9b5fe2eb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72115" y="4619302"/>
            <a:ext cx="952377" cy="3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357150" y="932250"/>
            <a:ext cx="4623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attrocento Sans"/>
              <a:buNone/>
            </a:pPr>
            <a:r>
              <a:rPr lang="f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Pourquoi simuler une réaction en chaîne ?</a:t>
            </a:r>
            <a:endParaRPr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357149" y="2201975"/>
            <a:ext cx="3732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cascade est auto-entretenue ou non, résumée par k_eff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57150" y="2931200"/>
            <a:ext cx="3732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Comprendre la criticité = comprendre comment un réacteur démarre, tourne ou s’emballe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918347" y="142875"/>
            <a:ext cx="743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Quattrocento San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357145" y="482600"/>
            <a:ext cx="4794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Quattrocento Sans"/>
              <a:buNone/>
            </a:pPr>
            <a:r>
              <a:rPr b="1" i="0" lang="fr" sz="2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</a:t>
            </a:r>
            <a:r>
              <a:rPr b="1" lang="fr" sz="2600">
                <a:latin typeface="Quattrocento Sans"/>
                <a:ea typeface="Quattrocento Sans"/>
                <a:cs typeface="Quattrocento Sans"/>
                <a:sym typeface="Quattrocento Sans"/>
              </a:rPr>
              <a:t>physique &amp; motivation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57150" y="1578200"/>
            <a:ext cx="40527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b="1" lang="fr">
                <a:latin typeface="Calibri"/>
                <a:ea typeface="Calibri"/>
                <a:cs typeface="Calibri"/>
                <a:sym typeface="Calibri"/>
              </a:rPr>
              <a:t>Un neutron frappe d’un noyau d’</a:t>
            </a:r>
            <a:r>
              <a:rPr b="1" baseline="30000"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235</a:t>
            </a:r>
            <a:r>
              <a:rPr b="1"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 → fission → énergie + nouveaux neutrons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05300" y="3701575"/>
            <a:ext cx="34422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k_eff &lt; 1 → Extinction </a:t>
            </a:r>
            <a:endParaRPr b="1">
              <a:solidFill>
                <a:schemeClr val="dk1"/>
              </a:solidFill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k_eff ≈ 1 → Quasi-critique</a:t>
            </a:r>
            <a:endParaRPr b="1">
              <a:solidFill>
                <a:schemeClr val="dk1"/>
              </a:solidFill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k_eff &gt; 1 → Croissance</a:t>
            </a:r>
            <a:endParaRPr b="1">
              <a:solidFill>
                <a:schemeClr val="dk1"/>
              </a:solidFill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15"/>
          <p:cNvCxnSpPr>
            <a:stCxn id="80" idx="0"/>
            <a:endCxn id="81" idx="2"/>
          </p:cNvCxnSpPr>
          <p:nvPr/>
        </p:nvCxnSpPr>
        <p:spPr>
          <a:xfrm rot="-5400000">
            <a:off x="4659074" y="2863847"/>
            <a:ext cx="1899900" cy="6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82" name="Google Shape;82;p15"/>
          <p:cNvGrpSpPr/>
          <p:nvPr/>
        </p:nvGrpSpPr>
        <p:grpSpPr>
          <a:xfrm>
            <a:off x="4661452" y="848085"/>
            <a:ext cx="4161450" cy="3594196"/>
            <a:chOff x="4945100" y="729445"/>
            <a:chExt cx="4119840" cy="3558258"/>
          </a:xfrm>
        </p:grpSpPr>
        <p:cxnSp>
          <p:nvCxnSpPr>
            <p:cNvPr id="83" name="Google Shape;83;p15"/>
            <p:cNvCxnSpPr>
              <a:stCxn id="84" idx="2"/>
              <a:endCxn id="85" idx="0"/>
            </p:cNvCxnSpPr>
            <p:nvPr/>
          </p:nvCxnSpPr>
          <p:spPr>
            <a:xfrm flipH="1" rot="-5400000">
              <a:off x="7258652" y="877017"/>
              <a:ext cx="731400" cy="1131000"/>
            </a:xfrm>
            <a:prstGeom prst="bentConnector3">
              <a:avLst>
                <a:gd fmla="val 49991" name="adj1"/>
              </a:avLst>
            </a:prstGeom>
            <a:noFill/>
            <a:ln cap="flat" cmpd="sng" w="9525">
              <a:solidFill>
                <a:srgbClr val="C2C2C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86" name="Google Shape;86;p15"/>
            <p:cNvCxnSpPr>
              <a:stCxn id="87" idx="0"/>
              <a:endCxn id="84" idx="2"/>
            </p:cNvCxnSpPr>
            <p:nvPr/>
          </p:nvCxnSpPr>
          <p:spPr>
            <a:xfrm rot="-5400000">
              <a:off x="6100550" y="859300"/>
              <a:ext cx="740700" cy="1176000"/>
            </a:xfrm>
            <a:prstGeom prst="bentConnector3">
              <a:avLst>
                <a:gd fmla="val 50009" name="adj1"/>
              </a:avLst>
            </a:prstGeom>
            <a:noFill/>
            <a:ln cap="flat" cmpd="sng" w="9525">
              <a:solidFill>
                <a:srgbClr val="C2C2C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grpSp>
          <p:nvGrpSpPr>
            <p:cNvPr id="88" name="Google Shape;88;p15"/>
            <p:cNvGrpSpPr/>
            <p:nvPr/>
          </p:nvGrpSpPr>
          <p:grpSpPr>
            <a:xfrm>
              <a:off x="6455148" y="729445"/>
              <a:ext cx="1207409" cy="347372"/>
              <a:chOff x="3802950" y="1145950"/>
              <a:chExt cx="1538100" cy="442513"/>
            </a:xfrm>
          </p:grpSpPr>
          <p:sp>
            <p:nvSpPr>
              <p:cNvPr id="84" name="Google Shape;84;p15"/>
              <p:cNvSpPr txBox="1"/>
              <p:nvPr/>
            </p:nvSpPr>
            <p:spPr>
              <a:xfrm>
                <a:off x="3802950" y="1145963"/>
                <a:ext cx="1538100" cy="442500"/>
              </a:xfrm>
              <a:prstGeom prst="rect">
                <a:avLst/>
              </a:prstGeom>
              <a:solidFill>
                <a:srgbClr val="073763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72500" lIns="72500" spcFirstLastPara="1" rIns="72500" wrap="square" tIns="72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1189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U-235</a:t>
                </a:r>
                <a:endParaRPr b="1" sz="118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3802950" y="1145950"/>
                <a:ext cx="1538100" cy="52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72500" lIns="72500" spcFirstLastPara="1" rIns="72500" wrap="square" tIns="72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90" name="Google Shape;90;p15"/>
            <p:cNvCxnSpPr>
              <a:stCxn id="84" idx="2"/>
              <a:endCxn id="91" idx="0"/>
            </p:cNvCxnSpPr>
            <p:nvPr/>
          </p:nvCxnSpPr>
          <p:spPr>
            <a:xfrm flipH="1" rot="-5400000">
              <a:off x="6375002" y="1760667"/>
              <a:ext cx="1370100" cy="2400"/>
            </a:xfrm>
            <a:prstGeom prst="bentConnector3">
              <a:avLst>
                <a:gd fmla="val 49997" name="adj1"/>
              </a:avLst>
            </a:prstGeom>
            <a:noFill/>
            <a:ln cap="flat" cmpd="sng" w="9525">
              <a:solidFill>
                <a:srgbClr val="C2C2C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80" name="Google Shape;80;p15"/>
            <p:cNvSpPr txBox="1"/>
            <p:nvPr/>
          </p:nvSpPr>
          <p:spPr>
            <a:xfrm>
              <a:off x="4945100" y="3665800"/>
              <a:ext cx="1875600" cy="621900"/>
            </a:xfrm>
            <a:prstGeom prst="rect">
              <a:avLst/>
            </a:prstGeom>
            <a:solidFill>
              <a:srgbClr val="0B5394"/>
            </a:solidFill>
            <a:ln>
              <a:noFill/>
            </a:ln>
          </p:spPr>
          <p:txBody>
            <a:bodyPr anchorCtr="0" anchor="ctr" bIns="92350" lIns="92350" spcFirstLastPara="1" rIns="92350" wrap="square" tIns="92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162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 nouveaux neutrons + fragments bêtas (neutron initial disparaît)</a:t>
              </a:r>
              <a:endParaRPr b="1" sz="116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6184950" y="2994500"/>
              <a:ext cx="1750200" cy="514500"/>
            </a:xfrm>
            <a:prstGeom prst="rect">
              <a:avLst/>
            </a:prstGeom>
            <a:solidFill>
              <a:srgbClr val="0B5394"/>
            </a:solidFill>
            <a:ln>
              <a:noFill/>
            </a:ln>
          </p:spPr>
          <p:txBody>
            <a:bodyPr anchorCtr="0" anchor="ctr" bIns="92350" lIns="92350" spcFirstLastPara="1" rIns="92350" wrap="square" tIns="92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162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chaleur déposée dans le cœur (neutron capturé)</a:t>
              </a:r>
              <a:endParaRPr b="1" sz="116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7314740" y="3665803"/>
              <a:ext cx="1750200" cy="621900"/>
            </a:xfrm>
            <a:prstGeom prst="rect">
              <a:avLst/>
            </a:prstGeom>
            <a:solidFill>
              <a:srgbClr val="0B5394"/>
            </a:solidFill>
            <a:ln>
              <a:noFill/>
            </a:ln>
          </p:spPr>
          <p:txBody>
            <a:bodyPr anchorCtr="0" anchor="ctr" bIns="92350" lIns="92350" spcFirstLastPara="1" rIns="92350" wrap="square" tIns="92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162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même neutron, nouvelle direction (rebond)</a:t>
              </a:r>
              <a:endParaRPr b="1" sz="116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4" name="Google Shape;94;p15"/>
            <p:cNvCxnSpPr>
              <a:stCxn id="91" idx="2"/>
              <a:endCxn id="92" idx="0"/>
            </p:cNvCxnSpPr>
            <p:nvPr/>
          </p:nvCxnSpPr>
          <p:spPr>
            <a:xfrm rot="5400000">
              <a:off x="6895425" y="2828884"/>
              <a:ext cx="330300" cy="1200"/>
            </a:xfrm>
            <a:prstGeom prst="bentConnector3">
              <a:avLst>
                <a:gd fmla="val 49980" name="adj1"/>
              </a:avLst>
            </a:prstGeom>
            <a:noFill/>
            <a:ln cap="flat" cmpd="sng" w="9525">
              <a:solidFill>
                <a:srgbClr val="C2C2C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15"/>
            <p:cNvCxnSpPr>
              <a:stCxn id="93" idx="0"/>
              <a:endCxn id="85" idx="2"/>
            </p:cNvCxnSpPr>
            <p:nvPr/>
          </p:nvCxnSpPr>
          <p:spPr>
            <a:xfrm rot="-5400000">
              <a:off x="7382240" y="2857603"/>
              <a:ext cx="1615800" cy="600"/>
            </a:xfrm>
            <a:prstGeom prst="bentConnector3">
              <a:avLst>
                <a:gd fmla="val 50004" name="adj1"/>
              </a:avLst>
            </a:prstGeom>
            <a:noFill/>
            <a:ln cap="flat" cmpd="sng" w="9525">
              <a:solidFill>
                <a:srgbClr val="C2C2C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grpSp>
          <p:nvGrpSpPr>
            <p:cNvPr id="96" name="Google Shape;96;p15"/>
            <p:cNvGrpSpPr/>
            <p:nvPr/>
          </p:nvGrpSpPr>
          <p:grpSpPr>
            <a:xfrm>
              <a:off x="5072150" y="1437525"/>
              <a:ext cx="1621500" cy="621925"/>
              <a:chOff x="5010550" y="1670800"/>
              <a:chExt cx="1621500" cy="621925"/>
            </a:xfrm>
          </p:grpSpPr>
          <p:sp>
            <p:nvSpPr>
              <p:cNvPr id="81" name="Google Shape;81;p15"/>
              <p:cNvSpPr txBox="1"/>
              <p:nvPr/>
            </p:nvSpPr>
            <p:spPr>
              <a:xfrm>
                <a:off x="5010550" y="1670800"/>
                <a:ext cx="1621500" cy="34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2350" lIns="92350" spcFirstLastPara="1" rIns="92350" wrap="square" tIns="92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162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 = 0.10</a:t>
                </a:r>
                <a:endParaRPr sz="1162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5"/>
              <p:cNvSpPr txBox="1"/>
              <p:nvPr/>
            </p:nvSpPr>
            <p:spPr>
              <a:xfrm>
                <a:off x="5107900" y="2050925"/>
                <a:ext cx="1426800" cy="241800"/>
              </a:xfrm>
              <a:prstGeom prst="rect">
                <a:avLst/>
              </a:prstGeom>
              <a:solidFill>
                <a:srgbClr val="0B5394"/>
              </a:solidFill>
              <a:ln>
                <a:noFill/>
              </a:ln>
            </p:spPr>
            <p:txBody>
              <a:bodyPr anchorCtr="0" anchor="ctr" bIns="92350" lIns="92350" spcFirstLastPara="1" rIns="92350" wrap="square" tIns="923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1162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Fission</a:t>
                </a:r>
                <a:endParaRPr b="1" sz="1162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" name="Google Shape;97;p15"/>
            <p:cNvGrpSpPr/>
            <p:nvPr/>
          </p:nvGrpSpPr>
          <p:grpSpPr>
            <a:xfrm>
              <a:off x="7397350" y="1437563"/>
              <a:ext cx="1621500" cy="612316"/>
              <a:chOff x="7397350" y="1670800"/>
              <a:chExt cx="1621500" cy="612316"/>
            </a:xfrm>
          </p:grpSpPr>
          <p:sp>
            <p:nvSpPr>
              <p:cNvPr id="85" name="Google Shape;85;p15"/>
              <p:cNvSpPr txBox="1"/>
              <p:nvPr/>
            </p:nvSpPr>
            <p:spPr>
              <a:xfrm>
                <a:off x="7455592" y="2041316"/>
                <a:ext cx="1468500" cy="241800"/>
              </a:xfrm>
              <a:prstGeom prst="rect">
                <a:avLst/>
              </a:prstGeom>
              <a:solidFill>
                <a:srgbClr val="0B5394"/>
              </a:solidFill>
              <a:ln>
                <a:noFill/>
              </a:ln>
            </p:spPr>
            <p:txBody>
              <a:bodyPr anchorCtr="0" anchor="ctr" bIns="92350" lIns="92350" spcFirstLastPara="1" rIns="92350" wrap="square" tIns="923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11"/>
                  <a:buFont typeface="Arial"/>
                  <a:buNone/>
                </a:pPr>
                <a:r>
                  <a:rPr b="1" lang="fr" sz="1162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Absorption</a:t>
                </a:r>
                <a:endParaRPr sz="1162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8" name="Google Shape;98;p15"/>
              <p:cNvSpPr txBox="1"/>
              <p:nvPr/>
            </p:nvSpPr>
            <p:spPr>
              <a:xfrm>
                <a:off x="7397350" y="1670800"/>
                <a:ext cx="1621500" cy="34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2350" lIns="92350" spcFirstLastPara="1" rIns="92350" wrap="square" tIns="92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162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 = 0.30</a:t>
                </a:r>
                <a:endParaRPr sz="1162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" name="Google Shape;99;p15"/>
            <p:cNvGrpSpPr/>
            <p:nvPr/>
          </p:nvGrpSpPr>
          <p:grpSpPr>
            <a:xfrm>
              <a:off x="6230925" y="2050936"/>
              <a:ext cx="1621500" cy="613398"/>
              <a:chOff x="6166625" y="2392774"/>
              <a:chExt cx="1621500" cy="613398"/>
            </a:xfrm>
          </p:grpSpPr>
          <p:sp>
            <p:nvSpPr>
              <p:cNvPr id="100" name="Google Shape;100;p15"/>
              <p:cNvSpPr txBox="1"/>
              <p:nvPr/>
            </p:nvSpPr>
            <p:spPr>
              <a:xfrm>
                <a:off x="6166625" y="2392774"/>
                <a:ext cx="1621500" cy="34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2350" lIns="92350" spcFirstLastPara="1" rIns="92350" wrap="square" tIns="92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162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 = 0.60</a:t>
                </a:r>
                <a:endParaRPr sz="1162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5"/>
              <p:cNvSpPr txBox="1"/>
              <p:nvPr/>
            </p:nvSpPr>
            <p:spPr>
              <a:xfrm>
                <a:off x="6243725" y="2788671"/>
                <a:ext cx="1506300" cy="217500"/>
              </a:xfrm>
              <a:prstGeom prst="rect">
                <a:avLst/>
              </a:prstGeom>
              <a:solidFill>
                <a:srgbClr val="0B5394"/>
              </a:solidFill>
              <a:ln>
                <a:noFill/>
              </a:ln>
            </p:spPr>
            <p:txBody>
              <a:bodyPr anchorCtr="0" anchor="ctr" bIns="92350" lIns="92350" spcFirstLastPara="1" rIns="92350" wrap="square" tIns="923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1162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Diffusion</a:t>
                </a:r>
                <a:endParaRPr b="1" sz="1162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01" name="Google Shape;101;p15" title="66e7e4205ed5068f9b5fe2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697" y="58126"/>
            <a:ext cx="815369" cy="3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6325276" y="-137475"/>
            <a:ext cx="19890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lang="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UL1SXARE |Rayney Poon Shao Rui, Boubacar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6" title="output_12_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225" y="1419297"/>
            <a:ext cx="3000000" cy="296575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/>
          <p:nvPr/>
        </p:nvSpPr>
        <p:spPr>
          <a:xfrm>
            <a:off x="357188" y="525066"/>
            <a:ext cx="8429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Quattrocento Sans"/>
              <a:buNone/>
            </a:pPr>
            <a:r>
              <a:rPr b="1" lang="fr" sz="2600">
                <a:latin typeface="Quattrocento Sans"/>
                <a:ea typeface="Quattrocento Sans"/>
                <a:cs typeface="Quattrocento Sans"/>
                <a:sym typeface="Quattrocento Sans"/>
              </a:rPr>
              <a:t>Le modèle : grille &amp; transport neutronique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0" name="Google Shape;110;p16"/>
          <p:cNvGraphicFramePr/>
          <p:nvPr/>
        </p:nvGraphicFramePr>
        <p:xfrm>
          <a:off x="424150" y="124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{891D8D52-053F-446A-A483-0386CEAEA1B3}</a:tableStyleId>
              </a:tblPr>
              <a:tblGrid>
                <a:gridCol w="1180300"/>
                <a:gridCol w="1180300"/>
                <a:gridCol w="1180300"/>
              </a:tblGrid>
              <a:tr h="40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</a:t>
                      </a: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ètre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Valeur d</a:t>
                      </a: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éfaut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ôle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6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taille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Taille N×N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fraction_u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Densit</a:t>
                      </a: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 U-235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p_fiss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Probabilit</a:t>
                      </a: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 fission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p_abs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Probabilit</a:t>
                      </a: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 absorption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p_diff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Diffusion (implicite)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2.43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Neutrons/fission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n_pas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 de temps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" name="Google Shape;111;p16"/>
          <p:cNvSpPr txBox="1"/>
          <p:nvPr/>
        </p:nvSpPr>
        <p:spPr>
          <a:xfrm>
            <a:off x="4302686" y="4225104"/>
            <a:ext cx="46491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Conditions aux limites absorbantes : toutes particule qui sort est supprimé son énergie comptée comme chaleur aux parois</a:t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5120675" y="4225089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 neutron placé au centre, direction cardinale tirée aléatoirement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120675" y="4225111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Les cases vides sont transparentes (le neutron les traverse sans interaction)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1477750" y="-540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6" title="Capture d’écran 2026-05-04 à 07.27.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8026" y="2019838"/>
            <a:ext cx="4365299" cy="6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4239425" y="2878013"/>
            <a:ext cx="4762500" cy="12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Cet estimateur empirique est défini dans keff_empirique() et correspond directement à ce que mesure la simulation</a:t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6" title="66e7e4205ed5068f9b5fe2eb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9697" y="58126"/>
            <a:ext cx="815369" cy="3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6325276" y="-137475"/>
            <a:ext cx="19890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lang="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UL1SXARE |Rayney Poon Shao Rui, Boubacar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357188" y="525066"/>
            <a:ext cx="8429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Quattrocento Sans"/>
              <a:buNone/>
            </a:pPr>
            <a:r>
              <a:rPr b="1" lang="fr" sz="2600">
                <a:latin typeface="Quattrocento Sans"/>
                <a:ea typeface="Quattrocento Sans"/>
                <a:cs typeface="Quattrocento Sans"/>
                <a:sym typeface="Quattrocento Sans"/>
              </a:rPr>
              <a:t>Extension enérgétique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4622675" y="301300"/>
            <a:ext cx="27894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26" name="Google Shape;126;p17"/>
          <p:cNvGraphicFramePr/>
          <p:nvPr/>
        </p:nvGraphicFramePr>
        <p:xfrm>
          <a:off x="238125" y="139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{891D8D52-053F-446A-A483-0386CEAEA1B3}</a:tableStyleId>
              </a:tblPr>
              <a:tblGrid>
                <a:gridCol w="1248475"/>
                <a:gridCol w="1248475"/>
                <a:gridCol w="1248475"/>
                <a:gridCol w="1248475"/>
              </a:tblGrid>
              <a:tr h="32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Canal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Énergie modélisé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ée (cases)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épôt principal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29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Neutrons prompts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Spectre de Watt (a=0.988 ; b=2.249)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Illimit</a:t>
                      </a: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ée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Absorption → cœur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29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Fragments de fission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TKE ~ 168 ± 8 MeV (loi normale)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1-2 cases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~95% dans le cœur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29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Électrons bêta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8.0 MeV/fission (Dirichlet)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5-10 cases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Parois si petite grille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7" name="Google Shape;127;p17"/>
          <p:cNvSpPr txBox="1"/>
          <p:nvPr/>
        </p:nvSpPr>
        <p:spPr>
          <a:xfrm>
            <a:off x="5767752" y="1399872"/>
            <a:ext cx="1894500" cy="6282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2350" lIns="92350" spcFirstLastPara="1" rIns="92350" wrap="square" tIns="92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6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Événement de fission</a:t>
            </a:r>
            <a:endParaRPr b="1" sz="116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6956302" y="2564322"/>
            <a:ext cx="1894500" cy="6282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2350" lIns="92350" spcFirstLastPara="1" rIns="92350" wrap="square" tIns="92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6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Q_cœur { neutrons / fragments / bêtas }}</a:t>
            </a:r>
            <a:endParaRPr b="1" sz="116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6956302" y="3675222"/>
            <a:ext cx="1894500" cy="6282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2350" lIns="92350" spcFirstLastPara="1" rIns="92350" wrap="square" tIns="92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6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Q_parois</a:t>
            </a:r>
            <a:r>
              <a:rPr b="1" lang="fr" sz="116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{ neutrons / fragments / bêtas }}</a:t>
            </a:r>
            <a:endParaRPr b="1" sz="116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7"/>
          <p:cNvCxnSpPr>
            <a:stCxn id="128" idx="1"/>
            <a:endCxn id="127" idx="2"/>
          </p:cNvCxnSpPr>
          <p:nvPr/>
        </p:nvCxnSpPr>
        <p:spPr>
          <a:xfrm rot="10800000">
            <a:off x="6715102" y="2028222"/>
            <a:ext cx="241200" cy="8502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31" name="Google Shape;131;p17"/>
          <p:cNvCxnSpPr>
            <a:stCxn id="129" idx="1"/>
            <a:endCxn id="127" idx="2"/>
          </p:cNvCxnSpPr>
          <p:nvPr/>
        </p:nvCxnSpPr>
        <p:spPr>
          <a:xfrm rot="10800000">
            <a:off x="6715102" y="2027922"/>
            <a:ext cx="241200" cy="19614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2" name="Google Shape;132;p17"/>
          <p:cNvSpPr txBox="1"/>
          <p:nvPr/>
        </p:nvSpPr>
        <p:spPr>
          <a:xfrm>
            <a:off x="121325" y="2011850"/>
            <a:ext cx="5272800" cy="15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Au-delà du comptage de neutrons, chaque fission produit 3 types de particules dont on suit l’énergie séparément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7" title="66e7e4205ed5068f9b5fe2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697" y="58126"/>
            <a:ext cx="815369" cy="3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6325276" y="-137475"/>
            <a:ext cx="19890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lang="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UL1SXARE |Rayney Poon Shao Rui, Boubacar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Google Shape;140;p18"/>
          <p:cNvGraphicFramePr/>
          <p:nvPr/>
        </p:nvGraphicFramePr>
        <p:xfrm>
          <a:off x="4929200" y="70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{891D8D52-053F-446A-A483-0386CEAEA1B3}</a:tableStyleId>
              </a:tblPr>
              <a:tblGrid>
                <a:gridCol w="1928825"/>
                <a:gridCol w="1928825"/>
              </a:tblGrid>
              <a:tr h="364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Onglet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Contenu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952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Animation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GIF de l’</a:t>
                      </a: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évolution spatiale + courbe de population neutronique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75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Carte thermique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Heatmap du d</a:t>
                      </a: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épôt d’énergie dans le cœur + grille U-235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14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Parois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Profile d’</a:t>
                      </a: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énergie déposée sur les 4 parois (haut/bas/gauche/droite)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952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Bilan </a:t>
                      </a: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énergétique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Tableau + camembert des 6 canaux + </a:t>
                      </a: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énergie électrique estimée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1" name="Google Shape;141;p18"/>
          <p:cNvGraphicFramePr/>
          <p:nvPr/>
        </p:nvGraphicFramePr>
        <p:xfrm>
          <a:off x="773200" y="119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{891D8D52-053F-446A-A483-0386CEAEA1B3}</a:tableStyleId>
              </a:tblPr>
              <a:tblGrid>
                <a:gridCol w="3888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 que contr</a:t>
                      </a: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ôle le sidebar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Taille de la grille (10-100)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Fraction U-235 (0-1)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P(fission), P(absorption) → P(diffusion) calcul</a:t>
                      </a: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ée automatiquement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 neutrons/fission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Spectre de Watt (a,b)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TKE fragments (moyenne, σ, port</a:t>
                      </a: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ée min/max</a:t>
                      </a: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Énergie bêta + portée min/max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Seed al</a:t>
                      </a: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éatoire + nombre de pas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2" name="Google Shape;142;p18"/>
          <p:cNvSpPr/>
          <p:nvPr/>
        </p:nvSpPr>
        <p:spPr>
          <a:xfrm>
            <a:off x="3918347" y="142875"/>
            <a:ext cx="743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Quattrocento San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357138" y="492716"/>
            <a:ext cx="8429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Quattrocento Sans"/>
              <a:buNone/>
            </a:pPr>
            <a:r>
              <a:rPr b="1" lang="fr" sz="2600">
                <a:latin typeface="Quattrocento Sans"/>
                <a:ea typeface="Quattrocento Sans"/>
                <a:cs typeface="Quattrocento Sans"/>
                <a:sym typeface="Quattrocento Sans"/>
              </a:rPr>
              <a:t>L’interface Streamlit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 title="66e7e4205ed5068f9b5fe2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697" y="58126"/>
            <a:ext cx="815369" cy="3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/>
          <p:nvPr/>
        </p:nvSpPr>
        <p:spPr>
          <a:xfrm>
            <a:off x="6325276" y="-137475"/>
            <a:ext cx="19890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lang="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UL1SXARE |Rayney Poon Shao Rui, Boubacar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9" title="Enregistrement de l’écran 2026-05-05 à 07.51.26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300" y="516150"/>
            <a:ext cx="8768223" cy="4291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/>
          <p:nvPr/>
        </p:nvSpPr>
        <p:spPr>
          <a:xfrm>
            <a:off x="3918347" y="142875"/>
            <a:ext cx="743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Quattrocento San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9" title="66e7e4205ed5068f9b5fe2eb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9697" y="58126"/>
            <a:ext cx="815369" cy="3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/>
          <p:nvPr/>
        </p:nvSpPr>
        <p:spPr>
          <a:xfrm>
            <a:off x="6325276" y="-137475"/>
            <a:ext cx="19890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lang="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UL1SXARE |Rayney Poon Shao Rui, Boubacar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357138" y="58116"/>
            <a:ext cx="8429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Quattrocento Sans"/>
              <a:buNone/>
            </a:pPr>
            <a:r>
              <a:rPr b="1" lang="fr" sz="2600">
                <a:latin typeface="Quattrocento Sans"/>
                <a:ea typeface="Quattrocento Sans"/>
                <a:cs typeface="Quattrocento Sans"/>
                <a:sym typeface="Quattrocento Sans"/>
              </a:rPr>
              <a:t>L’interface Streamlit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" name="Google Shape;16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3" name="Google Shape;16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325" y="1347150"/>
            <a:ext cx="3597500" cy="57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4325" y="1964950"/>
            <a:ext cx="3597500" cy="57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5" name="Google Shape;16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4325" y="2582750"/>
            <a:ext cx="3597500" cy="5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/>
          <p:nvPr/>
        </p:nvSpPr>
        <p:spPr>
          <a:xfrm>
            <a:off x="430975" y="1575711"/>
            <a:ext cx="23469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SzPts val="1200"/>
              <a:buFont typeface="Quattrocento Sans"/>
              <a:buChar char="●"/>
            </a:pPr>
            <a:r>
              <a:rPr b="1" lang="fr" sz="1200">
                <a:latin typeface="Quattrocento Sans"/>
                <a:ea typeface="Quattrocento Sans"/>
                <a:cs typeface="Quattrocento Sans"/>
                <a:sym typeface="Quattrocento Sans"/>
              </a:rPr>
              <a:t>Extinction</a:t>
            </a:r>
            <a:r>
              <a:rPr b="1" lang="fr" sz="1200">
                <a:latin typeface="Quattrocento Sans"/>
                <a:ea typeface="Quattrocento Sans"/>
                <a:cs typeface="Quattrocento Sans"/>
                <a:sym typeface="Quattrocento Sans"/>
              </a:rPr>
              <a:t> : Régime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430975" y="2154250"/>
            <a:ext cx="2346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SzPts val="1200"/>
              <a:buFont typeface="Quattrocento Sans"/>
              <a:buChar char="●"/>
            </a:pPr>
            <a:r>
              <a:rPr b="1" lang="fr" sz="1200">
                <a:latin typeface="Quattrocento Sans"/>
                <a:ea typeface="Quattrocento Sans"/>
                <a:cs typeface="Quattrocento Sans"/>
                <a:sym typeface="Quattrocento Sans"/>
              </a:rPr>
              <a:t>k_eff = 0.50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430971" y="2790090"/>
            <a:ext cx="35433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SzPts val="1200"/>
              <a:buFont typeface="Quattrocento Sans"/>
              <a:buChar char="●"/>
            </a:pPr>
            <a:r>
              <a:rPr b="1" lang="fr" sz="1200">
                <a:latin typeface="Quattrocento Sans"/>
                <a:ea typeface="Quattrocento Sans"/>
                <a:cs typeface="Quattrocento Sans"/>
                <a:sym typeface="Quattrocento Sans"/>
              </a:rPr>
              <a:t> Q_coeur fragments : 150.9 MeV (95%)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357188" y="142875"/>
            <a:ext cx="5859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Quattrocento San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357138" y="432616"/>
            <a:ext cx="8429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Quattrocento Sans"/>
              <a:buNone/>
            </a:pPr>
            <a:r>
              <a:rPr b="1" i="0" lang="fr" sz="2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</a:t>
            </a:r>
            <a:r>
              <a:rPr b="1" lang="fr" sz="2600">
                <a:latin typeface="Quattrocento Sans"/>
                <a:ea typeface="Quattrocento Sans"/>
                <a:cs typeface="Quattrocento Sans"/>
                <a:sym typeface="Quattrocento Sans"/>
              </a:rPr>
              <a:t>n : simulation de référence &amp; 30 runs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4325" y="3236600"/>
            <a:ext cx="3597500" cy="5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/>
          <p:nvPr/>
        </p:nvSpPr>
        <p:spPr>
          <a:xfrm>
            <a:off x="462200" y="3425903"/>
            <a:ext cx="35433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SzPts val="1200"/>
              <a:buFont typeface="Quattrocento Sans"/>
              <a:buChar char="●"/>
            </a:pPr>
            <a:r>
              <a:rPr b="1" lang="fr" sz="1200">
                <a:latin typeface="Quattrocento Sans"/>
                <a:ea typeface="Quattrocento Sans"/>
                <a:cs typeface="Quattrocento Sans"/>
                <a:sym typeface="Quattrocento Sans"/>
              </a:rPr>
              <a:t>Q_coeur bêtas : 8.0 MeV (5%)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4325" y="3890450"/>
            <a:ext cx="3597500" cy="5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/>
          <p:nvPr/>
        </p:nvSpPr>
        <p:spPr>
          <a:xfrm>
            <a:off x="462188" y="4062903"/>
            <a:ext cx="35433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SzPts val="1200"/>
              <a:buFont typeface="Quattrocento Sans"/>
              <a:buChar char="●"/>
            </a:pPr>
            <a:r>
              <a:rPr b="1" lang="fr" sz="1200">
                <a:latin typeface="Quattrocento Sans"/>
                <a:ea typeface="Quattrocento Sans"/>
                <a:cs typeface="Quattrocento Sans"/>
                <a:sym typeface="Quattrocento Sans"/>
              </a:rPr>
              <a:t>Q_parois</a:t>
            </a:r>
            <a:r>
              <a:rPr b="1" lang="fr" sz="1200">
                <a:latin typeface="Quattrocento Sans"/>
                <a:ea typeface="Quattrocento Sans"/>
                <a:cs typeface="Quattrocento Sans"/>
                <a:sym typeface="Quattrocento Sans"/>
              </a:rPr>
              <a:t> (tous) : 0 MeV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09700" y="4508250"/>
            <a:ext cx="80727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Les fragments (portée 1-2 cases) et bêtas (5-10 cases) s’arrêtent bien avant les parois d’une grille 50×50  → Q_parois = 0 MeV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09700" y="883375"/>
            <a:ext cx="3597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Simulation de référence (seed=42, paramètres par défaut)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Google Shape;177;p20"/>
          <p:cNvGraphicFramePr/>
          <p:nvPr/>
        </p:nvGraphicFramePr>
        <p:xfrm>
          <a:off x="4769125" y="174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{891D8D52-053F-446A-A483-0386CEAEA1B3}</a:tableStyleId>
              </a:tblPr>
              <a:tblGrid>
                <a:gridCol w="1315600"/>
                <a:gridCol w="2036150"/>
              </a:tblGrid>
              <a:tr h="13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égimes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30/30 Extinctions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k_eff moyen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0.645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9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Dispersion k_eff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σ=0.383</a:t>
                      </a:r>
                      <a:endParaRPr b="1" sz="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61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Q_coeur totale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5527 MeV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9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Q_parois totale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MeV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78" name="Google Shape;178;p20" title="66e7e4205ed5068f9b5fe2eb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9697" y="58126"/>
            <a:ext cx="815369" cy="3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/>
          <p:nvPr/>
        </p:nvSpPr>
        <p:spPr>
          <a:xfrm>
            <a:off x="6325276" y="-137475"/>
            <a:ext cx="19890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lang="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UL1SXARE |Rayney Poon Shao Rui, Boubacar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769125" y="1349125"/>
            <a:ext cx="3351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Bilan sur 30 runs indépendants (seeds 0-29)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7" name="Google Shape;1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/>
          <p:nvPr/>
        </p:nvSpPr>
        <p:spPr>
          <a:xfrm>
            <a:off x="357188" y="510779"/>
            <a:ext cx="8429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Quattrocento Sans"/>
              <a:buNone/>
            </a:pPr>
            <a:r>
              <a:rPr b="1" i="0" lang="fr" sz="2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Étude Paramétrique : </a:t>
            </a:r>
            <a:r>
              <a:rPr b="1" lang="fr" sz="2200">
                <a:latin typeface="Quattrocento Sans"/>
                <a:ea typeface="Quattrocento Sans"/>
                <a:cs typeface="Quattrocento Sans"/>
                <a:sym typeface="Quattrocento Sans"/>
              </a:rPr>
              <a:t>Paramètres</a:t>
            </a:r>
            <a:r>
              <a:rPr b="1" i="0" lang="fr" sz="2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Criticité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261600" y="847767"/>
            <a:ext cx="7716900" cy="1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p_fiss, p_abs, taille et fraction_u déterminent si la réaction s’auto-entretient (ils contrôlent k_eff directement)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21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{891D8D52-053F-446A-A483-0386CEAEA1B3}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</a:t>
                      </a: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érience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</a:t>
                      </a: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ètre varié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ésultat clé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Exp. 2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p_fiss : 0.20 </a:t>
                      </a: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→0.40</a:t>
                      </a:r>
                      <a:endParaRPr b="1"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Bascule Extinction </a:t>
                      </a: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Croissance (k_eff : 0.875 → 1.093)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Exp. 2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p_abs = 0.40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Annihile toute r</a:t>
                      </a: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éaction (k_eff = 0.000) 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Exp. 3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 : 1.0 </a:t>
                      </a: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2.5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Quasi-critique </a:t>
                      </a: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Croissance franche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Exp. 4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fraction_u : 0.2 vs 0.8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k_eff quasi identique (1.09) — </a:t>
                      </a: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redistribute</a:t>
                      </a: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spatialement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Exp. 1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taille 10 </a:t>
                      </a: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50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k_eff monte (0.667 </a:t>
                      </a: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0.964</a:t>
                      </a: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mais reste sous-critique seul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1" name="Google Shape;191;p21"/>
          <p:cNvSpPr/>
          <p:nvPr/>
        </p:nvSpPr>
        <p:spPr>
          <a:xfrm>
            <a:off x="357203" y="4258875"/>
            <a:ext cx="3519600" cy="698100"/>
          </a:xfrm>
          <a:prstGeom prst="rect">
            <a:avLst/>
          </a:prstGeom>
          <a:solidFill>
            <a:srgbClr val="660000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325025" y="4242725"/>
            <a:ext cx="37131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Leviers principaux</a:t>
            </a:r>
            <a:endParaRPr b="1" sz="11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p_fiss et p_abs </a:t>
            </a: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determinent si la réaction est auto-entretenue ou non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267300" y="4285763"/>
            <a:ext cx="3519600" cy="698100"/>
          </a:xfrm>
          <a:prstGeom prst="rect">
            <a:avLst/>
          </a:prstGeom>
          <a:solidFill>
            <a:srgbClr val="0A1A2A"/>
          </a:solidFill>
          <a:ln cap="flat" cmpd="sng" w="12700">
            <a:solidFill>
              <a:srgbClr val="3A7E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5267300" y="4271525"/>
            <a:ext cx="34365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Leviers géométriques secondaires</a:t>
            </a:r>
            <a:endParaRPr b="1" sz="11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taille et fraction_u : ne peuvent pas d</a:t>
            </a: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éclencher  la criticité si p_fiss est trop faible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1" title="66e7e4205ed5068f9b5fe2eb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9697" y="58126"/>
            <a:ext cx="815369" cy="3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/>
          <p:nvPr/>
        </p:nvSpPr>
        <p:spPr>
          <a:xfrm>
            <a:off x="6325276" y="-137475"/>
            <a:ext cx="19890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lang="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UL1SXARE |Rayney Poon Shao Rui, Boubacar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3" name="Google Shape;20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/>
          <p:nvPr/>
        </p:nvSpPr>
        <p:spPr>
          <a:xfrm>
            <a:off x="357188" y="510779"/>
            <a:ext cx="8429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Quattrocento Sans"/>
              <a:buNone/>
            </a:pPr>
            <a:r>
              <a:rPr b="1" i="0" lang="fr" sz="2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Étude Paramétrique : </a:t>
            </a:r>
            <a:r>
              <a:rPr b="1" lang="fr" sz="2200">
                <a:latin typeface="Quattrocento Sans"/>
                <a:ea typeface="Quattrocento Sans"/>
                <a:cs typeface="Quattrocento Sans"/>
                <a:sym typeface="Quattrocento Sans"/>
              </a:rPr>
              <a:t>Paramètres</a:t>
            </a:r>
            <a:r>
              <a:rPr b="1" i="0" lang="fr" sz="2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lang="fr" sz="2200">
                <a:latin typeface="Quattrocento Sans"/>
                <a:ea typeface="Quattrocento Sans"/>
                <a:cs typeface="Quattrocento Sans"/>
                <a:sym typeface="Quattrocento Sans"/>
              </a:rPr>
              <a:t>énergétiques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261600" y="847767"/>
            <a:ext cx="7716900" cy="1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TKE, énergie bêta, portées et spectre de Watt n’ont aucune influence sur k_eff. Ils déplacent uniquement la chaleur.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p22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{891D8D52-053F-446A-A483-0386CEAEA1B3}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Expérience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Paramètre varié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Effet k_eff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Effet énergie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Exp. 5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TKE_moy : 150 </a:t>
                      </a: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220 MeV</a:t>
                      </a:r>
                      <a:endParaRPr b="1"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Aucun</a:t>
                      </a:r>
                      <a:endParaRPr b="1"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Q_coeur fragments × 1.5</a:t>
                      </a:r>
                      <a:endParaRPr b="1"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Exp. 6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bp_max : 8 </a:t>
                      </a: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20 cases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Aucun</a:t>
                      </a:r>
                      <a:endParaRPr b="1"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Q_parois bétas : 5.9 % → 18.7 %</a:t>
                      </a:r>
                      <a:endParaRPr b="1"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Exp. 7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taille : 15 </a:t>
                      </a: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20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Indirect</a:t>
                      </a:r>
                      <a:endParaRPr b="1"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Q_parois bétas : 22 % → 0.4 %</a:t>
                      </a:r>
                      <a:endParaRPr b="1"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Exp. 8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Watt a : 0.5 </a:t>
                      </a: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2.0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Aucun</a:t>
                      </a:r>
                      <a:endParaRPr b="1"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f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Q_parois neutrons × 7</a:t>
                      </a:r>
                      <a:endParaRPr b="1"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7" name="Google Shape;207;p22"/>
          <p:cNvSpPr/>
          <p:nvPr/>
        </p:nvSpPr>
        <p:spPr>
          <a:xfrm>
            <a:off x="293778" y="3771050"/>
            <a:ext cx="3519600" cy="698100"/>
          </a:xfrm>
          <a:prstGeom prst="rect">
            <a:avLst/>
          </a:prstGeom>
          <a:solidFill>
            <a:srgbClr val="660000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261600" y="3754900"/>
            <a:ext cx="31467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Fragments</a:t>
            </a:r>
            <a:endParaRPr b="1" sz="11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Dominent Q_coeur en permanence ≈ 95 % quelle que soit la configuration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267300" y="3769138"/>
            <a:ext cx="3519600" cy="698100"/>
          </a:xfrm>
          <a:prstGeom prst="rect">
            <a:avLst/>
          </a:prstGeom>
          <a:solidFill>
            <a:srgbClr val="0A1A2A"/>
          </a:solidFill>
          <a:ln cap="flat" cmpd="sng" w="12700">
            <a:solidFill>
              <a:srgbClr val="3A7E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5267300" y="3754900"/>
            <a:ext cx="32238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Électrons bêta</a:t>
            </a:r>
            <a:endParaRPr b="1" sz="11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Principale source de fuite aux parois sur les petites grilles (22 % sur 15 cases))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293775" y="4628389"/>
            <a:ext cx="8429700" cy="303000"/>
          </a:xfrm>
          <a:prstGeom prst="rect">
            <a:avLst/>
          </a:prstGeom>
          <a:solidFill>
            <a:srgbClr val="7F6000"/>
          </a:solidFill>
          <a:ln cap="flat" cmpd="sng" w="1270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362585" y="4596100"/>
            <a:ext cx="7059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Séparation claire des rôles : les paramètres de criticité et les paramètres énergétiques sont indépendants.</a:t>
            </a:r>
            <a:endParaRPr b="1" sz="11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2" title="66e7e4205ed5068f9b5fe2eb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9697" y="58126"/>
            <a:ext cx="815369" cy="3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6325276" y="-137475"/>
            <a:ext cx="19890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lang="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UL1SXARE |Rayney Poon Shao Rui, Boubacar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/>
          <p:nvPr/>
        </p:nvSpPr>
        <p:spPr>
          <a:xfrm>
            <a:off x="357188" y="525066"/>
            <a:ext cx="8429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Quattrocento Sans"/>
              <a:buNone/>
            </a:pPr>
            <a:r>
              <a:rPr b="1" lang="fr" sz="2600">
                <a:latin typeface="Quattrocento Sans"/>
                <a:ea typeface="Quattrocento Sans"/>
                <a:cs typeface="Quattrocento Sans"/>
                <a:sym typeface="Quattrocento Sans"/>
              </a:rPr>
              <a:t>Sensibilté stochastique &amp; limites du modèle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4622675" y="301300"/>
            <a:ext cx="27894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222" name="Google Shape;222;p23"/>
          <p:cNvGraphicFramePr/>
          <p:nvPr/>
        </p:nvGraphicFramePr>
        <p:xfrm>
          <a:off x="238125" y="16258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{891D8D52-053F-446A-A483-0386CEAEA1B3}</a:tableStyleId>
              </a:tblPr>
              <a:tblGrid>
                <a:gridCol w="1127400"/>
                <a:gridCol w="1127400"/>
                <a:gridCol w="1127400"/>
                <a:gridCol w="1127400"/>
              </a:tblGrid>
              <a:tr h="32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Seed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k_eff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Régime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N_final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29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1.093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Croissance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706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29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1.09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Croissance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733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29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0.500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Extinction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3" name="Google Shape;223;p23"/>
          <p:cNvSpPr/>
          <p:nvPr/>
        </p:nvSpPr>
        <p:spPr>
          <a:xfrm>
            <a:off x="5120125" y="1173858"/>
            <a:ext cx="3554400" cy="1107000"/>
          </a:xfrm>
          <a:prstGeom prst="rect">
            <a:avLst/>
          </a:prstGeom>
          <a:solidFill>
            <a:srgbClr val="1E222E"/>
          </a:solidFill>
          <a:ln cap="flat" cmpd="sng" w="12700">
            <a:solidFill>
              <a:srgbClr val="3333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5236656" y="1283586"/>
            <a:ext cx="332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Géométrie 2D discrète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5236656" y="1704210"/>
            <a:ext cx="332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Surestime les fuites latérales, ne reproduit pas</a:t>
            </a:r>
            <a:br>
              <a:rPr b="1" i="0" lang="fr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fr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la géométrie cylindrique réelle d'un assemblage.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120125" y="2350325"/>
            <a:ext cx="3554400" cy="1302900"/>
          </a:xfrm>
          <a:prstGeom prst="rect">
            <a:avLst/>
          </a:prstGeom>
          <a:solidFill>
            <a:srgbClr val="1E222E"/>
          </a:solidFill>
          <a:ln cap="flat" cmpd="sng" w="12700">
            <a:solidFill>
              <a:srgbClr val="3333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5236661" y="2451206"/>
            <a:ext cx="332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Probabilités d'interaction fixes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5236661" y="2837912"/>
            <a:ext cx="3321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p_fiss, p_abs, p_diff = constantes.</a:t>
            </a:r>
            <a:br>
              <a:rPr b="1" i="0" lang="fr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fr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Dans un vrai réacteur, elles dépendent de l'énergie du neutron.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5120100" y="3731875"/>
            <a:ext cx="3554400" cy="1107000"/>
          </a:xfrm>
          <a:prstGeom prst="rect">
            <a:avLst/>
          </a:prstGeom>
          <a:solidFill>
            <a:srgbClr val="1E222E"/>
          </a:solidFill>
          <a:ln cap="flat" cmpd="sng" w="12700">
            <a:solidFill>
              <a:srgbClr val="3333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5236631" y="3841603"/>
            <a:ext cx="332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k_eff empirique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5236631" y="4262227"/>
            <a:ext cx="332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Sensible au bruit stochastique, biaisé par les extinctions précoces — ≠ k_eff théorique.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261600" y="976919"/>
            <a:ext cx="7716900" cy="1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7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Expérience 9 — mêmes paramètres, seed différent</a:t>
            </a:r>
            <a:endParaRPr b="1" sz="170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p_fiss=0.30 | p_abs=0.10 | taille=25 | fraction_u=0.80 | k=2.43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1029184" y="3409563"/>
            <a:ext cx="3096000" cy="1107000"/>
          </a:xfrm>
          <a:prstGeom prst="rect">
            <a:avLst/>
          </a:prstGeom>
          <a:solidFill>
            <a:srgbClr val="7F6000"/>
          </a:solidFill>
          <a:ln cap="flat" cmpd="sng" w="1270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1097984" y="3441839"/>
            <a:ext cx="27069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Au seuil critique : un seul run ne suffit pas</a:t>
            </a:r>
            <a:endParaRPr b="1" sz="16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seeds différents </a:t>
            </a:r>
            <a:r>
              <a:rPr b="1"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régimes opposés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1424000" y="4899399"/>
            <a:ext cx="6296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fr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Ces simplifications sont délibérées et cohérentes avec l'objectif pédagogique du projet.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23" title="66e7e4205ed5068f9b5fe2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697" y="58126"/>
            <a:ext cx="815369" cy="3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/>
          <p:nvPr/>
        </p:nvSpPr>
        <p:spPr>
          <a:xfrm>
            <a:off x="6325276" y="-137475"/>
            <a:ext cx="19890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lang="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UL1SXARE |Rayney Poon Shao Rui, Boubacar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3" name="Google Shape;24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4" name="Google Shape;24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/>
          <p:nvPr/>
        </p:nvSpPr>
        <p:spPr>
          <a:xfrm>
            <a:off x="357188" y="510779"/>
            <a:ext cx="8429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Quattrocento Sans"/>
              <a:buNone/>
            </a:pPr>
            <a:r>
              <a:rPr b="1" lang="fr" sz="2200">
                <a:latin typeface="Quattrocento Sans"/>
                <a:ea typeface="Quattrocento Sans"/>
                <a:cs typeface="Quattrocento Sans"/>
                <a:sym typeface="Quattrocento Sans"/>
              </a:rPr>
              <a:t>Extensions &amp; apports pédagogiques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390643" y="3948635"/>
            <a:ext cx="3519600" cy="698100"/>
          </a:xfrm>
          <a:prstGeom prst="rect">
            <a:avLst/>
          </a:prstGeom>
          <a:solidFill>
            <a:srgbClr val="660000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358464" y="3932485"/>
            <a:ext cx="33618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Paramètres de criticité</a:t>
            </a:r>
            <a:endParaRPr b="1" sz="11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p_fiss | p_abs | taille | fraction_u → régime dynamique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4121071" y="3962866"/>
            <a:ext cx="3519600" cy="698100"/>
          </a:xfrm>
          <a:prstGeom prst="rect">
            <a:avLst/>
          </a:prstGeom>
          <a:solidFill>
            <a:srgbClr val="0A1A2A"/>
          </a:solidFill>
          <a:ln cap="flat" cmpd="sng" w="12700">
            <a:solidFill>
              <a:srgbClr val="3A7E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4169503" y="3948629"/>
            <a:ext cx="31269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Paramètres énergétiques</a:t>
            </a:r>
            <a:endParaRPr b="1" sz="11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TKE | bêta | portées | Watt → redistribuent la chaleur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357200" y="988600"/>
            <a:ext cx="3952800" cy="2293200"/>
          </a:xfrm>
          <a:prstGeom prst="rect">
            <a:avLst/>
          </a:prstGeom>
          <a:solidFill>
            <a:srgbClr val="1E222E"/>
          </a:soli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523946" y="1150800"/>
            <a:ext cx="3603600" cy="2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FC5E8"/>
                </a:solidFill>
                <a:latin typeface="Calibri"/>
                <a:ea typeface="Calibri"/>
                <a:cs typeface="Calibri"/>
                <a:sym typeface="Calibri"/>
              </a:rPr>
              <a:t>Extension 1 : Géométrie 3D</a:t>
            </a:r>
            <a:endParaRPr b="1" sz="1100">
              <a:solidFill>
                <a:srgbClr val="9FC5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Position (i,j) → (i,j,k)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Directions : 4 → 6 {N, S, E, O, Haut, Bas}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Grille : N×N → tenseur N×N×N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Logique d’interaction : inchangée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Réduire la surestimation des fuites latérales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3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4834100" y="988600"/>
            <a:ext cx="3952800" cy="2293200"/>
          </a:xfrm>
          <a:prstGeom prst="rect">
            <a:avLst/>
          </a:prstGeom>
          <a:solidFill>
            <a:srgbClr val="1E222E"/>
          </a:soli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5000846" y="1150800"/>
            <a:ext cx="3603600" cy="2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FC5E8"/>
                </a:solidFill>
                <a:latin typeface="Calibri"/>
                <a:ea typeface="Calibri"/>
                <a:cs typeface="Calibri"/>
                <a:sym typeface="Calibri"/>
              </a:rPr>
              <a:t>Extension 2 : Barres de contr</a:t>
            </a:r>
            <a:r>
              <a:rPr b="1" lang="fr" sz="1100">
                <a:solidFill>
                  <a:srgbClr val="9FC5E8"/>
                </a:solidFill>
                <a:latin typeface="Calibri"/>
                <a:ea typeface="Calibri"/>
                <a:cs typeface="Calibri"/>
                <a:sym typeface="Calibri"/>
              </a:rPr>
              <a:t>ôle</a:t>
            </a:r>
            <a:endParaRPr b="1" sz="1100">
              <a:solidFill>
                <a:srgbClr val="9FC5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3e type de case : forte probabilit</a:t>
            </a: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é d’absoprtion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Inspir</a:t>
            </a: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é de l’Expérience 2 : p_abs=0.40 → k_eff = 0.000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</a:t>
            </a: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ériaux : bore, hafnium (à étudier)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Simuler la r</a:t>
            </a: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égulation active de la criticité,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fr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écanisme central de tout réacteur réel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357200" y="3452613"/>
            <a:ext cx="46656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Apport central du modèle</a:t>
            </a:r>
            <a:endParaRPr b="1" sz="1800">
              <a:solidFill>
                <a:srgbClr val="B45F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357203" y="4749149"/>
            <a:ext cx="2419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✓  Fragments ≈ 95 % de Q_cœur ✓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3237957" y="4749149"/>
            <a:ext cx="2419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1" lang="fr" sz="1100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Fuite bêta sur petites grilles </a:t>
            </a:r>
            <a:r>
              <a:rPr b="1" i="0" lang="fr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 ✓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5941103" y="4749149"/>
            <a:ext cx="2419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1" lang="fr" sz="1100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Sensibilité stochastique au seuil </a:t>
            </a:r>
            <a:r>
              <a:rPr b="1" i="0" lang="fr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24" title="66e7e4205ed5068f9b5fe2eb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9697" y="58126"/>
            <a:ext cx="815369" cy="3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/>
          <p:nvPr/>
        </p:nvSpPr>
        <p:spPr>
          <a:xfrm>
            <a:off x="6325276" y="-137475"/>
            <a:ext cx="19890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lang="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UL1SXARE |Rayney Poon Shao Rui, Boubacar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